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71" r:id="rId4"/>
    <p:sldId id="266" r:id="rId5"/>
    <p:sldId id="260" r:id="rId6"/>
    <p:sldId id="258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1" r:id="rId20"/>
    <p:sldId id="282" r:id="rId21"/>
    <p:sldId id="283" r:id="rId22"/>
    <p:sldId id="289" r:id="rId23"/>
    <p:sldId id="290" r:id="rId24"/>
    <p:sldId id="291" r:id="rId25"/>
    <p:sldId id="292" r:id="rId26"/>
    <p:sldId id="293" r:id="rId27"/>
    <p:sldId id="294" r:id="rId28"/>
    <p:sldId id="296" r:id="rId29"/>
    <p:sldId id="284" r:id="rId30"/>
    <p:sldId id="286" r:id="rId31"/>
    <p:sldId id="287" r:id="rId32"/>
    <p:sldId id="288" r:id="rId33"/>
    <p:sldId id="295" r:id="rId34"/>
  </p:sldIdLst>
  <p:sldSz cx="14630400" cy="8229600"/>
  <p:notesSz cx="8229600" cy="14630400"/>
  <p:embeddedFontLs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8E2475-1952-43E2-8B19-23C5648C94AE}">
          <p14:sldIdLst>
            <p14:sldId id="256"/>
          </p14:sldIdLst>
        </p14:section>
        <p14:section name="Untitled Section" id="{6D951BF8-CD26-4927-8F4C-B066521472C4}">
          <p14:sldIdLst>
            <p14:sldId id="257"/>
            <p14:sldId id="271"/>
            <p14:sldId id="266"/>
            <p14:sldId id="260"/>
            <p14:sldId id="258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  <p14:sldId id="289"/>
            <p14:sldId id="290"/>
            <p14:sldId id="291"/>
            <p14:sldId id="292"/>
            <p14:sldId id="293"/>
            <p14:sldId id="294"/>
            <p14:sldId id="296"/>
            <p14:sldId id="284"/>
            <p14:sldId id="286"/>
            <p14:sldId id="287"/>
            <p14:sldId id="288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25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71240" y="2364059"/>
            <a:ext cx="12565372" cy="209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200" b="1" dirty="0">
                <a:solidFill>
                  <a:srgbClr val="FF9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Aurora H-Function: Illuminating Signals from the Noise</a:t>
            </a:r>
          </a:p>
        </p:txBody>
      </p:sp>
      <p:sp>
        <p:nvSpPr>
          <p:cNvPr id="4" name="Text 1"/>
          <p:cNvSpPr/>
          <p:nvPr/>
        </p:nvSpPr>
        <p:spPr>
          <a:xfrm>
            <a:off x="6280190" y="479512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46886-1079-EB71-FEBA-227D64686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54357"/>
            <a:ext cx="2886478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208" y="468155"/>
            <a:ext cx="11246525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3" name="Text 1"/>
          <p:cNvSpPr/>
          <p:nvPr/>
        </p:nvSpPr>
        <p:spPr>
          <a:xfrm>
            <a:off x="869795" y="1713940"/>
            <a:ext cx="13038967" cy="563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is critical in gravitational-wave detection and real-world audio processing, where signals are often hidden under complex, unpredictable noise. Traditional filters (Bandpass, Notch, Wiener, Wavelet, Matched) work only in limited scenarios and fail against irregular, heavy-tailed, and multi-scale noise.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Fox H-function–inspired filter, leveraging one of the most general special functions. Its flexible parameterization enables adaptive, frequency-dependent noise suppression, removing strong disturbances while preserving weak underlying signals.</a:t>
            </a:r>
          </a:p>
        </p:txBody>
      </p:sp>
      <p:sp>
        <p:nvSpPr>
          <p:cNvPr id="4" name="Text 2"/>
          <p:cNvSpPr/>
          <p:nvPr/>
        </p:nvSpPr>
        <p:spPr>
          <a:xfrm>
            <a:off x="721638" y="3541157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1D8E4-F429-B86D-24BF-BFEC99295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492650-C4C3-F644-1254-5E4B460464C4}"/>
              </a:ext>
            </a:extLst>
          </p:cNvPr>
          <p:cNvSpPr txBox="1"/>
          <p:nvPr/>
        </p:nvSpPr>
        <p:spPr>
          <a:xfrm>
            <a:off x="1137424" y="1284164"/>
            <a:ext cx="11753386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Gravitational-wave time-series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speech recordings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Outperforms classical filters in non-Gaussian, colored, and time-varying noise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subtle gravitational-wave features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Achieves strong speech noise reduction without voice distortion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bridges advanced mathematical theory and practical signal processing, offering pathways for real-time systems, multi-channel designs, and ML-based hybrid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7593D-D94B-DD83-36EE-DF48441C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2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4C223F-95AB-FF73-8F67-1472F76E6B2E}"/>
              </a:ext>
            </a:extLst>
          </p:cNvPr>
          <p:cNvSpPr txBox="1"/>
          <p:nvPr/>
        </p:nvSpPr>
        <p:spPr>
          <a:xfrm>
            <a:off x="1005840" y="1316297"/>
            <a:ext cx="12877800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 Waves (GWs) are extremely weak spacetime ripples produced by events like black hole and neutron star mergers. Although first detected by LIGO/Virgo in 2015, their signals are easily buried under strong detector noise such as non-stationary seismic drift, colored frequency-dependent noise, transient glitches, and broadband quantum/electronic disturbances. Similar challenges occur in real-world audio, where speech is corrupted by multi-scale, unpredictable, heavy-tailed noise.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filters (Bandpass, Notch, Wiener, Wavelet, Matched) struggle with bursty, time-varying, and multi-scale noise, especially when the underlying signal is very weak. To address this, the project explores a Fox H-function–inspired filter—an approach based on a highly general mathematical function capable of power-law shaping, adaptive frequency attenuation, and multi-scale noise control.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develop and evaluate this H-function filter for both LIGO/Virgo gravitational-wave data and noisy speech, using time-frequency analysis, SNR improvement, and comparisons with classical filters.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A914C-D8BD-C859-89A8-42F0466BA8C1}"/>
              </a:ext>
            </a:extLst>
          </p:cNvPr>
          <p:cNvSpPr txBox="1"/>
          <p:nvPr/>
        </p:nvSpPr>
        <p:spPr>
          <a:xfrm>
            <a:off x="883920" y="524554"/>
            <a:ext cx="126339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C2D49B-4685-CE03-7379-2A0E37B53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1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3965" y="971969"/>
            <a:ext cx="109755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99297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DeepGRAV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(Yan et al.)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33449"/>
            <a:ext cx="5091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89" y="2565491"/>
            <a:ext cx="6407944" cy="1791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learns latent GW noise features.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anomaly-detection accuracy (A3D3 challenge).Better performance than matched filtering for unknown signals.</a:t>
            </a:r>
          </a:p>
        </p:txBody>
      </p:sp>
      <p:sp>
        <p:nvSpPr>
          <p:cNvPr id="7" name="Text 5"/>
          <p:cNvSpPr/>
          <p:nvPr/>
        </p:nvSpPr>
        <p:spPr>
          <a:xfrm>
            <a:off x="7428548" y="206609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VAE-Based Detection (Fayad)</a:t>
            </a:r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833449"/>
            <a:ext cx="42752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2597218"/>
            <a:ext cx="6408063" cy="1229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VAE trained on noise → GW appears as reconstruction anomaly.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Robust, template-free method (AUC ≈ 0.89).</a:t>
            </a:r>
          </a:p>
        </p:txBody>
      </p:sp>
      <p:sp>
        <p:nvSpPr>
          <p:cNvPr id="11" name="Text 9"/>
          <p:cNvSpPr/>
          <p:nvPr/>
        </p:nvSpPr>
        <p:spPr>
          <a:xfrm>
            <a:off x="793790" y="476333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DeepClean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(Ormiston et al.)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9498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147915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auxiliary sensors to subtract noise from GW strain.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nonlinear couplings;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↑ by ~21%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Outperforms classical regression approaches.</a:t>
            </a:r>
          </a:p>
        </p:txBody>
      </p:sp>
      <p:sp>
        <p:nvSpPr>
          <p:cNvPr id="15" name="Text 13"/>
          <p:cNvSpPr/>
          <p:nvPr/>
        </p:nvSpPr>
        <p:spPr>
          <a:xfrm>
            <a:off x="7428548" y="47508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Dilated Convolutional Autoencoders (Bacon et al.)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5948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205294"/>
            <a:ext cx="6408063" cy="142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Dilated CNNs capture long-range temporal patterns.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denoising BBH signals under real LIGO noise.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reconstruction quality for O1/O2 events.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AF04BB-1247-AF6C-3E73-ABEEB94C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9CE0C90-F8A1-E5B5-7405-4BF885EAE5B5}"/>
              </a:ext>
            </a:extLst>
          </p:cNvPr>
          <p:cNvSpPr txBox="1"/>
          <p:nvPr/>
        </p:nvSpPr>
        <p:spPr>
          <a:xfrm>
            <a:off x="1661532" y="276333"/>
            <a:ext cx="9311267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 Bold" pitchFamily="34" charset="-122"/>
                <a:cs typeface="Times New Roman" panose="02020603050405020304" pitchFamily="18" charset="0"/>
              </a:rPr>
              <a:t> TRADITIONAL NOISE FILTERS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52EDA1-D90F-B5C5-DAFA-E0A56BA010EF}"/>
              </a:ext>
            </a:extLst>
          </p:cNvPr>
          <p:cNvSpPr txBox="1"/>
          <p:nvPr/>
        </p:nvSpPr>
        <p:spPr>
          <a:xfrm>
            <a:off x="1215484" y="1322874"/>
            <a:ext cx="6177775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 (BPF)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only a specific frequency range to pass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Rejects noise outside the band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 for GW?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GW signals lie mainly in 20–1000 Hz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BPF suppresses: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seismic noise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quantum noise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 for Audio?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band: 300–3400 Hz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rumble &amp; hiss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2AAE5E-CC56-DE35-2C4B-273BD3660A3C}"/>
              </a:ext>
            </a:extLst>
          </p:cNvPr>
          <p:cNvSpPr txBox="1"/>
          <p:nvPr/>
        </p:nvSpPr>
        <p:spPr>
          <a:xfrm>
            <a:off x="8184994" y="1204158"/>
            <a:ext cx="5798633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 Applications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GW Processing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seismic noise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quantum/shot noise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Preserves astrophysical chirp band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Audio Processing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enhancement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rumble (low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hiss (high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11199BF-192D-40B8-0749-A274ADC13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A9067-46E5-F0B1-999A-0D9CED8A1067}"/>
              </a:ext>
            </a:extLst>
          </p:cNvPr>
          <p:cNvSpPr txBox="1"/>
          <p:nvPr/>
        </p:nvSpPr>
        <p:spPr>
          <a:xfrm>
            <a:off x="925551" y="881103"/>
            <a:ext cx="6623825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 Filter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a very narrow frequency band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precise interference removal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Used?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hum (50/60 Hz)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mechanical resonances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tonal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B971E-709D-D315-753B-04D2B87A6FB3}"/>
              </a:ext>
            </a:extLst>
          </p:cNvPr>
          <p:cNvSpPr txBox="1"/>
          <p:nvPr/>
        </p:nvSpPr>
        <p:spPr>
          <a:xfrm>
            <a:off x="7928518" y="846768"/>
            <a:ext cx="73152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 Filter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GW Processing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50/60 Hz electrical hum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Suspension violin modes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 tones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Audio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 removal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Whistle, alarm noise suppression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Hearing aids, music restoration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6055F-C7EF-68A0-2E7A-85452E52E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3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A96CB0-5B3D-CA9F-7224-E7AEDFFD4892}"/>
              </a:ext>
            </a:extLst>
          </p:cNvPr>
          <p:cNvSpPr txBox="1"/>
          <p:nvPr/>
        </p:nvSpPr>
        <p:spPr>
          <a:xfrm>
            <a:off x="880947" y="532126"/>
            <a:ext cx="549755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Wiener Filter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filter that minimizes Mean Squared Error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knowledge of noise</a:t>
            </a:r>
            <a:endParaRPr lang="ar-AE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dominant → H ≈ 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dominant → H ≈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BCF7F-D9EF-2441-A203-D37CAB4135DC}"/>
              </a:ext>
            </a:extLst>
          </p:cNvPr>
          <p:cNvSpPr txBox="1"/>
          <p:nvPr/>
        </p:nvSpPr>
        <p:spPr>
          <a:xfrm>
            <a:off x="6947209" y="532126"/>
            <a:ext cx="6835697" cy="722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Wiener Filter Applications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GW Processing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regression using auxiliary sensors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cleaner strain data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improvement for weak GW signals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Audio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for stationary noise (fan, engine)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LMS/RLS = adaptive versions for real-time noise changes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telephony, ASR, hearing aids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accurate PSD estimates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poorly for non-stationary noise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72789-86C2-AD19-E9C5-79140CD0E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1306" y="7559159"/>
            <a:ext cx="2219093" cy="57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2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A0EDC-4455-6EFA-0B6D-DF64A284F00E}"/>
              </a:ext>
            </a:extLst>
          </p:cNvPr>
          <p:cNvSpPr txBox="1"/>
          <p:nvPr/>
        </p:nvSpPr>
        <p:spPr>
          <a:xfrm>
            <a:off x="1326995" y="1027852"/>
            <a:ext cx="5988205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Wavelet Filter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Time–frequency decomposition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non-stationary and transient signals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= Localized analysis using scaling (a) &amp; shifting (b)</a:t>
            </a:r>
            <a:endParaRPr lang="ar-AE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Technique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Soft-threshold wavelet coefficients.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43D2A-72B8-DF2A-81DC-0454F74EE754}"/>
              </a:ext>
            </a:extLst>
          </p:cNvPr>
          <p:cNvSpPr txBox="1"/>
          <p:nvPr/>
        </p:nvSpPr>
        <p:spPr>
          <a:xfrm>
            <a:off x="7794702" y="1027852"/>
            <a:ext cx="7315200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Filter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GW Processing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Burst detection (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cWB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Omicron)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 identification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Time-frequency analysis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Audio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Intermittent noise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Street noise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Rain/crowd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Preserves speech transients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059717-E5D5-F7FA-F8D4-FE436D02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9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27AC9-D155-AD82-671A-250A3739B14A}"/>
              </a:ext>
            </a:extLst>
          </p:cNvPr>
          <p:cNvSpPr txBox="1"/>
          <p:nvPr/>
        </p:nvSpPr>
        <p:spPr>
          <a:xfrm>
            <a:off x="1103970" y="1150578"/>
            <a:ext cx="5542157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detector for known signals in Gaussian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of gravitational-wave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75204-D3A9-6B75-CCDD-4540A33DEF71}"/>
              </a:ext>
            </a:extLst>
          </p:cNvPr>
          <p:cNvSpPr txBox="1"/>
          <p:nvPr/>
        </p:nvSpPr>
        <p:spPr>
          <a:xfrm>
            <a:off x="6824546" y="1150578"/>
            <a:ext cx="73152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 Applications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GW Processing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tool for compact binary coalescence (CBC)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PyCBC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GstLAL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SNR time series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detection significance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Audio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 spotting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Template-based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used for generic noise removal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567E91-C8B1-1F2A-E145-B7E6D243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05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A7BE2A-9261-7CC0-838C-9F5EE7FE3FDA}"/>
              </a:ext>
            </a:extLst>
          </p:cNvPr>
          <p:cNvSpPr txBox="1"/>
          <p:nvPr/>
        </p:nvSpPr>
        <p:spPr>
          <a:xfrm>
            <a:off x="1081667" y="1393902"/>
            <a:ext cx="12266343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evaluate 5 classical filters on: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Gravitational-Wave (GW) signals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Voice/Audio signals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 Tested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Bandpass Filter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 Filter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Wiener Filter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Filter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Matched Filter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these filters using: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 and frequency-domain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analysis,SNR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improvement,Visual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waveform/FFT plots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D44A2-12C2-B6D4-1C2F-1B1DB2AAFFBF}"/>
              </a:ext>
            </a:extLst>
          </p:cNvPr>
          <p:cNvSpPr txBox="1"/>
          <p:nvPr/>
        </p:nvSpPr>
        <p:spPr>
          <a:xfrm>
            <a:off x="468350" y="272535"/>
            <a:ext cx="136602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 OF BENCHMARK FILTERS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CAD67E-FE62-F0D6-A804-020BF87A7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922" y="7396306"/>
            <a:ext cx="2542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0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DC72D4-6317-F862-2DED-194E984AC51B}"/>
              </a:ext>
            </a:extLst>
          </p:cNvPr>
          <p:cNvSpPr txBox="1"/>
          <p:nvPr/>
        </p:nvSpPr>
        <p:spPr>
          <a:xfrm>
            <a:off x="1750741" y="1739463"/>
            <a:ext cx="731520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Gravitational-Wave Signals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LOSC real events + simulations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Sampling: 4096 Hz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Types Present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Gaussian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Narrowband peaks (mains hum, violin modes)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Non-stationary glitches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C68A1-7D74-2C32-5F21-F49CEF175475}"/>
              </a:ext>
            </a:extLst>
          </p:cNvPr>
          <p:cNvSpPr txBox="1"/>
          <p:nvPr/>
        </p:nvSpPr>
        <p:spPr>
          <a:xfrm>
            <a:off x="2397512" y="473490"/>
            <a:ext cx="10136459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(GW DATA)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C7F5B-E26E-2578-5583-B3824E6E64E7}"/>
                  </a:ext>
                </a:extLst>
              </p:cNvPr>
              <p:cNvSpPr txBox="1"/>
              <p:nvPr/>
            </p:nvSpPr>
            <p:spPr>
              <a:xfrm>
                <a:off x="1750741" y="5923031"/>
                <a:ext cx="7315200" cy="1587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Frequency-Domain PSD-Weighted SNR (GW)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ar-AE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nary>
                        <m:naryPr>
                          <m:grow m:val="on"/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acc>
                                <m:accPr>
                                  <m:chr m:val="̃"/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</m:e>
                                <m:sup>
                                  <m:r>
                                    <a:rPr lang="ar-AE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ar-AE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ar-AE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7C7F5B-E26E-2578-5583-B3824E6E6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741" y="5923031"/>
                <a:ext cx="7315200" cy="1587999"/>
              </a:xfrm>
              <a:prstGeom prst="rect">
                <a:avLst/>
              </a:prstGeom>
              <a:blipFill>
                <a:blip r:embed="rId2"/>
                <a:stretch>
                  <a:fillRect l="-1250" t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332E4AC-81A9-E153-A183-B2A7FE9B5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5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FF2A34-4F63-42CC-5FCE-308D1D94C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182190"/>
              </p:ext>
            </p:extLst>
          </p:nvPr>
        </p:nvGraphicFramePr>
        <p:xfrm>
          <a:off x="1081668" y="1393902"/>
          <a:ext cx="12545123" cy="58989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1489">
                  <a:extLst>
                    <a:ext uri="{9D8B030D-6E8A-4147-A177-3AD203B41FA5}">
                      <a16:colId xmlns:a16="http://schemas.microsoft.com/office/drawing/2014/main" val="673500487"/>
                    </a:ext>
                  </a:extLst>
                </a:gridCol>
                <a:gridCol w="3825662">
                  <a:extLst>
                    <a:ext uri="{9D8B030D-6E8A-4147-A177-3AD203B41FA5}">
                      <a16:colId xmlns:a16="http://schemas.microsoft.com/office/drawing/2014/main" val="3585484277"/>
                    </a:ext>
                  </a:extLst>
                </a:gridCol>
                <a:gridCol w="2286134">
                  <a:extLst>
                    <a:ext uri="{9D8B030D-6E8A-4147-A177-3AD203B41FA5}">
                      <a16:colId xmlns:a16="http://schemas.microsoft.com/office/drawing/2014/main" val="2116911610"/>
                    </a:ext>
                  </a:extLst>
                </a:gridCol>
                <a:gridCol w="3021838">
                  <a:extLst>
                    <a:ext uri="{9D8B030D-6E8A-4147-A177-3AD203B41FA5}">
                      <a16:colId xmlns:a16="http://schemas.microsoft.com/office/drawing/2014/main" val="2295056436"/>
                    </a:ext>
                  </a:extLst>
                </a:gridCol>
              </a:tblGrid>
              <a:tr h="472647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Dataset (Event Name)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Filters Applied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Best Filter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SNR (dB)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2220606107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GW200209_085452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Raw, Bandpass, Notch, Wiener, Wavelet, 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Wavelet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2.59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3112907889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GW200225_060421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Raw, Bandpass, Notch, Wiener, Wavelet, Matched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Wiener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13.08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2068814407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GW200128_022011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Raw, Bandpass, Notch, Wiener, Wavelet, 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9.13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2579854177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GW200216_220804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Raw, Bandpass, Notch, Wiener, Wavelet, 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Wiener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5.05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3808368854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GW191230_180458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Raw, Bandpass, Notch, Wiener, Wavelet, 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11.95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825496939"/>
                  </a:ext>
                </a:extLst>
              </a:tr>
              <a:tr h="904391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GW191222_033537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ctr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Raw, Bandpass, Notch, Wiener, Wavelet, 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6.26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4958" marR="37656" marT="29005" marB="0"/>
                </a:tc>
                <a:extLst>
                  <a:ext uri="{0D108BD9-81ED-4DB2-BD59-A6C34878D82A}">
                    <a16:rowId xmlns:a16="http://schemas.microsoft.com/office/drawing/2014/main" val="37939440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55AB10-1BAD-EB3C-4E47-6B2CB34C3C01}"/>
              </a:ext>
            </a:extLst>
          </p:cNvPr>
          <p:cNvSpPr txBox="1"/>
          <p:nvPr/>
        </p:nvSpPr>
        <p:spPr>
          <a:xfrm>
            <a:off x="2375210" y="367318"/>
            <a:ext cx="90993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99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FILTER COMPARISON TABLE </a:t>
            </a:r>
            <a:endParaRPr lang="en-IN" sz="4400" b="1" dirty="0">
              <a:solidFill>
                <a:srgbClr val="FF99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43BA4-E08A-6DC1-D171-38E33E86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D03B-6D7A-EF57-B209-C485CA0162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7356" y="1661531"/>
            <a:ext cx="5977054" cy="393080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FE8A83C-13E1-B4DD-6771-1493D62974C4}"/>
              </a:ext>
            </a:extLst>
          </p:cNvPr>
          <p:cNvSpPr txBox="1"/>
          <p:nvPr/>
        </p:nvSpPr>
        <p:spPr>
          <a:xfrm>
            <a:off x="1103970" y="983391"/>
            <a:ext cx="7315200" cy="469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885" indent="-6350" algn="just">
              <a:lnSpc>
                <a:spcPct val="110000"/>
              </a:lnSpc>
              <a:spcAft>
                <a:spcPts val="1060"/>
              </a:spcAft>
              <a:buNone/>
            </a:pPr>
            <a:r>
              <a:rPr lang="en-IN" sz="2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)GW200209_085452 </a:t>
            </a:r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B213499E-DB58-2D0A-0F42-C399FC218969}"/>
              </a:ext>
            </a:extLst>
          </p:cNvPr>
          <p:cNvSpPr txBox="1"/>
          <p:nvPr/>
        </p:nvSpPr>
        <p:spPr>
          <a:xfrm>
            <a:off x="7114478" y="948833"/>
            <a:ext cx="7315200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2885" indent="-6350" algn="l">
              <a:lnSpc>
                <a:spcPct val="107000"/>
              </a:lnSpc>
              <a:spcAft>
                <a:spcPts val="1350"/>
              </a:spcAft>
              <a:buNone/>
            </a:pPr>
            <a:r>
              <a:rPr lang="en-IN" sz="24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2)GW200225_060421 </a:t>
            </a:r>
            <a:endParaRPr lang="en-IN" sz="24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9" name="Picture 2058">
            <a:extLst>
              <a:ext uri="{FF2B5EF4-FFF2-40B4-BE49-F238E27FC236}">
                <a16:creationId xmlns:a16="http://schemas.microsoft.com/office/drawing/2014/main" id="{38399243-89CC-29F4-7E94-6D587CCBDE7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05494" y="1661531"/>
            <a:ext cx="6099715" cy="3891775"/>
          </a:xfrm>
          <a:prstGeom prst="rect">
            <a:avLst/>
          </a:prstGeom>
        </p:spPr>
      </p:pic>
      <p:pic>
        <p:nvPicPr>
          <p:cNvPr id="2060" name="Picture 2059">
            <a:extLst>
              <a:ext uri="{FF2B5EF4-FFF2-40B4-BE49-F238E27FC236}">
                <a16:creationId xmlns:a16="http://schemas.microsoft.com/office/drawing/2014/main" id="{B4E7B3CD-A28A-91F8-818B-0ABD9CC18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25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C02BA0-6911-9C44-F5C9-10B55CE9C5E8}"/>
              </a:ext>
            </a:extLst>
          </p:cNvPr>
          <p:cNvSpPr txBox="1"/>
          <p:nvPr/>
        </p:nvSpPr>
        <p:spPr>
          <a:xfrm>
            <a:off x="1427356" y="1188255"/>
            <a:ext cx="9389327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Voice/Audio Signals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file: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orgnoise.opus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 files: Injected noise at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–10 dB, 0 dB, +10 dB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rate: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kHz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Noise Type: White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energy across frequencies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remove using narrow filters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filters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Wiener / Wavelet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60346-3E43-E077-6484-DA8544EFAA79}"/>
              </a:ext>
            </a:extLst>
          </p:cNvPr>
          <p:cNvSpPr txBox="1"/>
          <p:nvPr/>
        </p:nvSpPr>
        <p:spPr>
          <a:xfrm>
            <a:off x="2051823" y="418814"/>
            <a:ext cx="10983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(AUDIO DATA)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1F1B4-EB19-0CA6-4826-C36988F87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48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B2065-1FBA-79D5-7B4C-D90DB216845D}"/>
              </a:ext>
            </a:extLst>
          </p:cNvPr>
          <p:cNvSpPr txBox="1"/>
          <p:nvPr/>
        </p:nvSpPr>
        <p:spPr>
          <a:xfrm>
            <a:off x="903249" y="642306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Calculation Methods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Time-Domain SNR (Audio)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close the filtered signal is to the clean signal.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F823C-8EFD-584F-1AFB-A0B7022BC200}"/>
              </a:ext>
            </a:extLst>
          </p:cNvPr>
          <p:cNvSpPr txBox="1"/>
          <p:nvPr/>
        </p:nvSpPr>
        <p:spPr>
          <a:xfrm>
            <a:off x="903249" y="2391265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SNR(dB) = 10 · log10(  Σ (s[i] − ŝ[i])²  /  Σ s[i]²  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479416-6183-FCE3-DC6B-FE374FA9B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109633"/>
              </p:ext>
            </p:extLst>
          </p:nvPr>
        </p:nvGraphicFramePr>
        <p:xfrm>
          <a:off x="1005854" y="3912330"/>
          <a:ext cx="12453668" cy="18529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4112">
                  <a:extLst>
                    <a:ext uri="{9D8B030D-6E8A-4147-A177-3AD203B41FA5}">
                      <a16:colId xmlns:a16="http://schemas.microsoft.com/office/drawing/2014/main" val="991135586"/>
                    </a:ext>
                  </a:extLst>
                </a:gridCol>
                <a:gridCol w="2287115">
                  <a:extLst>
                    <a:ext uri="{9D8B030D-6E8A-4147-A177-3AD203B41FA5}">
                      <a16:colId xmlns:a16="http://schemas.microsoft.com/office/drawing/2014/main" val="930389949"/>
                    </a:ext>
                  </a:extLst>
                </a:gridCol>
                <a:gridCol w="1665390">
                  <a:extLst>
                    <a:ext uri="{9D8B030D-6E8A-4147-A177-3AD203B41FA5}">
                      <a16:colId xmlns:a16="http://schemas.microsoft.com/office/drawing/2014/main" val="641768374"/>
                    </a:ext>
                  </a:extLst>
                </a:gridCol>
                <a:gridCol w="1868370">
                  <a:extLst>
                    <a:ext uri="{9D8B030D-6E8A-4147-A177-3AD203B41FA5}">
                      <a16:colId xmlns:a16="http://schemas.microsoft.com/office/drawing/2014/main" val="1551134574"/>
                    </a:ext>
                  </a:extLst>
                </a:gridCol>
                <a:gridCol w="2026599">
                  <a:extLst>
                    <a:ext uri="{9D8B030D-6E8A-4147-A177-3AD203B41FA5}">
                      <a16:colId xmlns:a16="http://schemas.microsoft.com/office/drawing/2014/main" val="3511556036"/>
                    </a:ext>
                  </a:extLst>
                </a:gridCol>
                <a:gridCol w="2132082">
                  <a:extLst>
                    <a:ext uri="{9D8B030D-6E8A-4147-A177-3AD203B41FA5}">
                      <a16:colId xmlns:a16="http://schemas.microsoft.com/office/drawing/2014/main" val="4245968350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Noise Level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Bandpass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Notch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Wiener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Wavelet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Matched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extLst>
                  <a:ext uri="{0D108BD9-81ED-4DB2-BD59-A6C34878D82A}">
                    <a16:rowId xmlns:a16="http://schemas.microsoft.com/office/drawing/2014/main" val="211976876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–10 dB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0.07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–0.12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2.55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–1.31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–2.51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extLst>
                  <a:ext uri="{0D108BD9-81ED-4DB2-BD59-A6C34878D82A}">
                    <a16:rowId xmlns:a16="http://schemas.microsoft.com/office/drawing/2014/main" val="2979780868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 dB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6.07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5.67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8.08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3.66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–2.48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extLst>
                  <a:ext uri="{0D108BD9-81ED-4DB2-BD59-A6C34878D82A}">
                    <a16:rowId xmlns:a16="http://schemas.microsoft.com/office/drawing/2014/main" val="261290889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10 dB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13.55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13.26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10.15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7.88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–2.47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6195" marB="0"/>
                </a:tc>
                <a:extLst>
                  <a:ext uri="{0D108BD9-81ED-4DB2-BD59-A6C34878D82A}">
                    <a16:rowId xmlns:a16="http://schemas.microsoft.com/office/drawing/2014/main" val="1873206840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F09FD68-5911-BD95-1309-5F4275CD2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54" y="3197397"/>
            <a:ext cx="6005195" cy="96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3174" tIns="45720" rIns="91440" bIns="1745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SNR Improvement for Audio Signals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74F104-0867-801C-36BC-7BC36F0B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1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32E5-6F35-73CF-3673-C6F95E9040A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FOX H-FUNCTION: OVERVIEW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86F15-4723-4A0C-BD22-1161E5EAF3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Fox H-function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sz="24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sz="24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d>
                      <m:d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one of the most general special functions.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Introduced by C. Fox (1961) using a Mellin–Barnes integral.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Unifies many known functions: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Meijer-G, Hypergeometric, Mittag–Leffler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Bessel functions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Lévy/Stable distributions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Widely used in </a:t>
                </a:r>
                <a:r>
                  <a:rPr lang="en-IN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modeling</a:t>
                </a: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complex, non-classical </a:t>
                </a:r>
                <a:r>
                  <a:rPr lang="en-IN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behaviors</a:t>
                </a: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such as long-memory, multi-scale effects, and heavy tails.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86F15-4723-4A0C-BD22-1161E5EA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812" r="-1101" b="-162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E1DE7C1-28AE-8ADA-9910-285F38439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67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AC4C-DD55-AEC8-95D0-9438964C70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DEFINITION &amp; STRUCTURE</a:t>
            </a:r>
            <a:endParaRPr lang="en-IN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E9F90-FE08-49F4-B85D-7F71CAF050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Integral Definition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grow m:val="on"/>
                          <m:supHide m:val="on"/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l-GR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nary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nor/>
                        </m:rPr>
                        <a:rPr lang="ar-AE" sz="2400" 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m:rPr>
                          <m:nor/>
                        </m:rPr>
                        <a:rPr lang="ar-AE" sz="2400" i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ar-AE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grow m:val="on"/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2400" i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 </m:t>
                          </m:r>
                          <m:nary>
                            <m:naryPr>
                              <m:chr m:val="∏"/>
                              <m:grow m:val="on"/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∏"/>
                              <m:grow m:val="on"/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2400" i="1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 </m:t>
                          </m:r>
                          <m:nary>
                            <m:naryPr>
                              <m:chr m:val="∏"/>
                              <m:grow m:val="on"/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l-GR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Contour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separates Gamma-function poles ensuring convergence.</a:t>
                </a:r>
              </a:p>
              <a:p>
                <a:endPara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2E9F90-FE08-49F4-B85D-7F71CAF05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812" t="-1120" b="-5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0B7A66-85EF-1FAD-1E6B-49F6EFF21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57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1022-ADF6-18AA-5C45-270AA412D9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753376-E896-9AAC-5B54-0BAC325B2B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838" y="1034620"/>
                <a:ext cx="12766289" cy="45644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Includes many classical functions as special cases: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Meijer G (when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sz="24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Hypergeometric &amp; Mittag–Leffler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Bessel functions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 under transforms: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Mellin, Laplace, Fourier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Asymptotics</a:t>
                </a: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Exponential or algebraic decay (heavy tails)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Series Forms: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series (small </a:t>
                </a:r>
                <a14:m>
                  <m:oMath xmlns:m="http://schemas.openxmlformats.org/officeDocument/2006/math">
                    <m:r>
                      <a:rPr lang="en-I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Asymptotic series (large </a:t>
                </a:r>
                <a14:m>
                  <m:oMath xmlns:m="http://schemas.openxmlformats.org/officeDocument/2006/math">
                    <m:r>
                      <a:rPr lang="en-IN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753376-E896-9AAC-5B54-0BAC325B2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38" y="1034620"/>
                <a:ext cx="12766289" cy="4564473"/>
              </a:xfrm>
              <a:prstGeom prst="rect">
                <a:avLst/>
              </a:prstGeom>
              <a:blipFill>
                <a:blip r:embed="rId2"/>
                <a:stretch>
                  <a:fillRect l="-621" b="-532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A37F54-E9C6-5758-F72D-153C75961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87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C7A1-A2FD-CFD1-435D-2BF82CD21C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14283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042F-1FD4-312E-ECA3-2D9067D39C55}"/>
              </a:ext>
            </a:extLst>
          </p:cNvPr>
          <p:cNvSpPr txBox="1">
            <a:spLocks/>
          </p:cNvSpPr>
          <p:nvPr/>
        </p:nvSpPr>
        <p:spPr>
          <a:xfrm>
            <a:off x="838200" y="1507958"/>
            <a:ext cx="10515600" cy="46690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Fractional Calculus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 of fractional differential equations.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Appears in relaxation, viscoelastic models, and anomalous diffusion.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Probability &amp; Statistics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Heavy-tailed distributions (Lévy, </a:t>
            </a:r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α-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in finance, queuing, and risk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Physics &amp; Engineering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Long-memory heat transfer, turbulence, and statistical mechanics.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8F8CC-21A8-2DFD-D0D9-DAC10EEB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EEAE8-A9D2-C876-CEE3-FA2442E3786B}"/>
              </a:ext>
            </a:extLst>
          </p:cNvPr>
          <p:cNvSpPr txBox="1"/>
          <p:nvPr/>
        </p:nvSpPr>
        <p:spPr>
          <a:xfrm>
            <a:off x="1226633" y="731662"/>
            <a:ext cx="12812751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Signal Processing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model non-Gaussian noise (impulsive, heavy-tailed noise).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Appears in fading channel models (e.g., generalized K-distribution).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analytic forms for error rates, SNR distributions, and filter responses in non-classical environments.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describe signals in fractal, fractional, or multi-scale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302E9-EC8E-360B-458E-948649133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55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29A2-00F7-2991-7914-F3F7702288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FUNCTION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D91E6-CC78-8CAD-7979-2742A40227AE}"/>
              </a:ext>
            </a:extLst>
          </p:cNvPr>
          <p:cNvSpPr txBox="1">
            <a:spLocks/>
          </p:cNvSpPr>
          <p:nvPr/>
        </p:nvSpPr>
        <p:spPr>
          <a:xfrm>
            <a:off x="838200" y="1182029"/>
            <a:ext cx="12074912" cy="499493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a New Filter?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Gravitational-Wave Noise Challenges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Non-stationary seismic drift</a:t>
            </a:r>
          </a:p>
          <a:p>
            <a:pPr lvl="1">
              <a:lnSpc>
                <a:spcPct val="150000"/>
              </a:lnSpc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frequency-dependent noise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glitches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Broadband high-frequency artifacts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Filters Fail When: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is multi-scale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follows power-law decay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shows fractal/complex patterns</a:t>
            </a:r>
          </a:p>
          <a:p>
            <a:pPr lvl="1"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signals get suppressed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9C52F-1D03-A3F2-8C2E-61F741F27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693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3D33-E615-4315-3642-06E2C2309A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H-FUNCTION–INSPIRED FILTER</a:t>
            </a:r>
            <a:endParaRPr lang="en-IN" b="1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2D2C7-8D49-1DF8-376E-27DD303A4D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Frequency-Domain Form</a:t>
                </a:r>
              </a:p>
              <a:p>
                <a:pPr marL="0" indent="0">
                  <a:buFont typeface="Arial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endChr m:val=""/>
                                      <m:ctrlPr>
                                        <a:rPr lang="ar-AE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4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∣</m:t>
                                      </m:r>
                                      <m:r>
                                        <a:rPr lang="ar-AE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ar-AE" sz="24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∣/</m:t>
                                      </m:r>
                                      <m:sSub>
                                        <m:sSubPr>
                                          <m:ctrlP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sz="240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  <m:func>
                        <m:func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ar-AE" sz="24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  <m:r>
                                            <a:rPr lang="ar-AE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ar-AE" sz="24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∣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ar-AE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ar-AE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ar-AE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72D2C7-8D49-1DF8-376E-27DD303A4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4BD766-025C-0135-4C2C-812E00669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771989"/>
              </p:ext>
            </p:extLst>
          </p:nvPr>
        </p:nvGraphicFramePr>
        <p:xfrm>
          <a:off x="1553497" y="3539613"/>
          <a:ext cx="8688200" cy="27432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544701">
                  <a:extLst>
                    <a:ext uri="{9D8B030D-6E8A-4147-A177-3AD203B41FA5}">
                      <a16:colId xmlns:a16="http://schemas.microsoft.com/office/drawing/2014/main" val="2211042716"/>
                    </a:ext>
                  </a:extLst>
                </a:gridCol>
                <a:gridCol w="7143499">
                  <a:extLst>
                    <a:ext uri="{9D8B030D-6E8A-4147-A177-3AD203B41FA5}">
                      <a16:colId xmlns:a16="http://schemas.microsoft.com/office/drawing/2014/main" val="2805749717"/>
                    </a:ext>
                  </a:extLst>
                </a:gridCol>
              </a:tblGrid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666028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/>
                        <a:t>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Controls power-law decay (heavy-tail suppression)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277115"/>
                  </a:ext>
                </a:extLst>
              </a:tr>
              <a:tr h="412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dirty="0"/>
                        <a:t>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Mid-frequency shaping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446882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dirty="0"/>
                        <a:t>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High-frequency roll-off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3073434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2400" dirty="0"/>
                        <a:t>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Smoothness &amp; non-linearity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95265"/>
                  </a:ext>
                </a:extLst>
              </a:tr>
              <a:tr h="417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</a:t>
                      </a:r>
                      <a:r>
                        <a:rPr lang="en-IN" sz="2400" baseline="-250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Normalization cutoff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0267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1276EE8-CA57-99A2-282D-BB8E3F7EE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8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205038-7355-FFC3-4F27-9688454F0D1E}"/>
                  </a:ext>
                </a:extLst>
              </p:cNvPr>
              <p:cNvSpPr txBox="1"/>
              <p:nvPr/>
            </p:nvSpPr>
            <p:spPr>
              <a:xfrm>
                <a:off x="847493" y="725710"/>
                <a:ext cx="7315200" cy="3534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</a:t>
                </a: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signal to frequency domain using FFT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filter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back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d>
                        <m:d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2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 SNR evaluation (audio + GW)</a:t>
                </a:r>
              </a:p>
              <a:p>
                <a:pPr>
                  <a:lnSpc>
                    <a:spcPct val="150000"/>
                  </a:lnSpc>
                </a:pPr>
                <a:endPara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205038-7355-FFC3-4F27-9688454F0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725710"/>
                <a:ext cx="7315200" cy="3534622"/>
              </a:xfrm>
              <a:prstGeom prst="rect">
                <a:avLst/>
              </a:prstGeom>
              <a:blipFill>
                <a:blip r:embed="rId2"/>
                <a:stretch>
                  <a:fillRect l="-1250" t="-13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ED1DFE9-C22F-8FCC-55DB-A7B719A24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15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965FF4-1E82-01BC-8FFE-A9C9406C9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87779"/>
              </p:ext>
            </p:extLst>
          </p:nvPr>
        </p:nvGraphicFramePr>
        <p:xfrm>
          <a:off x="1121092" y="2219039"/>
          <a:ext cx="9899676" cy="37915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74934">
                  <a:extLst>
                    <a:ext uri="{9D8B030D-6E8A-4147-A177-3AD203B41FA5}">
                      <a16:colId xmlns:a16="http://schemas.microsoft.com/office/drawing/2014/main" val="2530439935"/>
                    </a:ext>
                  </a:extLst>
                </a:gridCol>
                <a:gridCol w="1407194">
                  <a:extLst>
                    <a:ext uri="{9D8B030D-6E8A-4147-A177-3AD203B41FA5}">
                      <a16:colId xmlns:a16="http://schemas.microsoft.com/office/drawing/2014/main" val="3812899723"/>
                    </a:ext>
                  </a:extLst>
                </a:gridCol>
                <a:gridCol w="1407194">
                  <a:extLst>
                    <a:ext uri="{9D8B030D-6E8A-4147-A177-3AD203B41FA5}">
                      <a16:colId xmlns:a16="http://schemas.microsoft.com/office/drawing/2014/main" val="218770754"/>
                    </a:ext>
                  </a:extLst>
                </a:gridCol>
                <a:gridCol w="1407194">
                  <a:extLst>
                    <a:ext uri="{9D8B030D-6E8A-4147-A177-3AD203B41FA5}">
                      <a16:colId xmlns:a16="http://schemas.microsoft.com/office/drawing/2014/main" val="3547368150"/>
                    </a:ext>
                  </a:extLst>
                </a:gridCol>
                <a:gridCol w="1409386">
                  <a:extLst>
                    <a:ext uri="{9D8B030D-6E8A-4147-A177-3AD203B41FA5}">
                      <a16:colId xmlns:a16="http://schemas.microsoft.com/office/drawing/2014/main" val="200437619"/>
                    </a:ext>
                  </a:extLst>
                </a:gridCol>
                <a:gridCol w="1493774">
                  <a:extLst>
                    <a:ext uri="{9D8B030D-6E8A-4147-A177-3AD203B41FA5}">
                      <a16:colId xmlns:a16="http://schemas.microsoft.com/office/drawing/2014/main" val="3025320987"/>
                    </a:ext>
                  </a:extLst>
                </a:gridCol>
              </a:tblGrid>
              <a:tr h="802005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Event Name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α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β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γ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δ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575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SNR After </a:t>
                      </a:r>
                    </a:p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58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H-Filter </a:t>
                      </a:r>
                    </a:p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(dB)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85919676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GW191222_033537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38.95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391037298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GW191113_071753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35.45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2584255016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GW200225_060421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29.85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131913412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GW200128_022011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29.23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134918905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GW200216_220804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6.0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63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0.0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29.57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945" marR="73025" marT="38735" marB="0"/>
                </a:tc>
                <a:extLst>
                  <a:ext uri="{0D108BD9-81ED-4DB2-BD59-A6C34878D82A}">
                    <a16:rowId xmlns:a16="http://schemas.microsoft.com/office/drawing/2014/main" val="12057649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D52F76-9EE3-4179-C8FE-B5E92A0159D1}"/>
              </a:ext>
            </a:extLst>
          </p:cNvPr>
          <p:cNvSpPr txBox="1"/>
          <p:nvPr/>
        </p:nvSpPr>
        <p:spPr>
          <a:xfrm>
            <a:off x="834390" y="686383"/>
            <a:ext cx="12674918" cy="149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07000"/>
              </a:lnSpc>
              <a:spcAft>
                <a:spcPts val="1375"/>
              </a:spcAft>
              <a:buNone/>
            </a:pPr>
            <a:r>
              <a:rPr lang="en-IN" sz="4400" b="1" kern="100" dirty="0">
                <a:solidFill>
                  <a:srgbClr val="FF99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EXPERIMENTAL RESULTS  GRAVITATIONAL-WAVE SIGNALS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566870-891C-123F-BB4A-BDFFAA48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00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01226-75C0-6452-56CF-A2A54C923E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GW RESULTS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F27F1855-6EDB-8BDD-BAB5-44F355C27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381" y="1609315"/>
            <a:ext cx="6977612" cy="324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41C426-1E7B-B05F-A476-1FB5EA0353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25381" y="5305425"/>
            <a:ext cx="6977612" cy="2559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7231BF-F1BF-16E7-D3C6-D7C00FE2C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1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F8EDF8-7DBE-8ADE-E252-621606C5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69098"/>
              </p:ext>
            </p:extLst>
          </p:nvPr>
        </p:nvGraphicFramePr>
        <p:xfrm>
          <a:off x="1609873" y="2888069"/>
          <a:ext cx="5597526" cy="18675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8763">
                  <a:extLst>
                    <a:ext uri="{9D8B030D-6E8A-4147-A177-3AD203B41FA5}">
                      <a16:colId xmlns:a16="http://schemas.microsoft.com/office/drawing/2014/main" val="1648334432"/>
                    </a:ext>
                  </a:extLst>
                </a:gridCol>
                <a:gridCol w="2798763">
                  <a:extLst>
                    <a:ext uri="{9D8B030D-6E8A-4147-A177-3AD203B41FA5}">
                      <a16:colId xmlns:a16="http://schemas.microsoft.com/office/drawing/2014/main" val="1670104753"/>
                    </a:ext>
                  </a:extLst>
                </a:gridCol>
              </a:tblGrid>
              <a:tr h="636905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Noise Level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H-Filter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extLst>
                  <a:ext uri="{0D108BD9-81ED-4DB2-BD59-A6C34878D82A}">
                    <a16:rowId xmlns:a16="http://schemas.microsoft.com/office/drawing/2014/main" val="1084324476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–10 dB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2.44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extLst>
                  <a:ext uri="{0D108BD9-81ED-4DB2-BD59-A6C34878D82A}">
                    <a16:rowId xmlns:a16="http://schemas.microsoft.com/office/drawing/2014/main" val="4163050291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0 dB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9.51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extLst>
                  <a:ext uri="{0D108BD9-81ED-4DB2-BD59-A6C34878D82A}">
                    <a16:rowId xmlns:a16="http://schemas.microsoft.com/office/drawing/2014/main" val="347374476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10 dB </a:t>
                      </a:r>
                      <a:endParaRPr lang="en-IN" sz="2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tc>
                  <a:txBody>
                    <a:bodyPr/>
                    <a:lstStyle/>
                    <a:p>
                      <a:pPr marL="222885" indent="-6350" algn="l">
                        <a:lnSpc>
                          <a:spcPct val="107000"/>
                        </a:lnSpc>
                        <a:spcAft>
                          <a:spcPts val="135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14.12 </a:t>
                      </a:r>
                      <a:endParaRPr lang="en-IN" sz="2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73025" marT="38100" marB="0"/>
                </a:tc>
                <a:extLst>
                  <a:ext uri="{0D108BD9-81ED-4DB2-BD59-A6C34878D82A}">
                    <a16:rowId xmlns:a16="http://schemas.microsoft.com/office/drawing/2014/main" val="36578898"/>
                  </a:ext>
                </a:extLst>
              </a:tr>
            </a:tbl>
          </a:graphicData>
        </a:graphic>
      </p:graphicFrame>
      <p:sp>
        <p:nvSpPr>
          <p:cNvPr id="15" name="Rectangle 12">
            <a:extLst>
              <a:ext uri="{FF2B5EF4-FFF2-40B4-BE49-F238E27FC236}">
                <a16:creationId xmlns:a16="http://schemas.microsoft.com/office/drawing/2014/main" id="{3A5BD5CB-EA59-C8FF-DC2B-17BBA2EB7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873" y="1574363"/>
            <a:ext cx="4359528" cy="96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3174" tIns="45720" rIns="91440" bIns="1745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file: voice_noisy_10dB.wav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Noise type: White Noise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C6F596-0667-832C-3C91-C2954ADC2F55}"/>
              </a:ext>
            </a:extLst>
          </p:cNvPr>
          <p:cNvSpPr txBox="1"/>
          <p:nvPr/>
        </p:nvSpPr>
        <p:spPr>
          <a:xfrm>
            <a:off x="1962615" y="744375"/>
            <a:ext cx="105267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FF99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AUDIO DENOISING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902083-5F8B-FEE4-8421-83962AA160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76069" y="5108205"/>
            <a:ext cx="8549237" cy="275340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DE7F265-D4A1-0380-1625-BB3031EDE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53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EC0B7-BFE4-9080-A881-D30ECB90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44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4AAB-9D26-D048-315D-FA5CE0CECE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D3AB3-14FA-EA83-E40B-E19451509C0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an H-function–inspired noise filter for: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Gravitational-wave anomaly detection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audio denoising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H-Function?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multi-scale, non-stationary, colored, and heavy-tailed noise.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flexible than traditional filters.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advanced mathematical theory into a practical and superior signal-processing tool.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EC43A-1400-D3A3-53FF-F6633F12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3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4881-865A-2410-0701-9E9F781A12B6}"/>
              </a:ext>
            </a:extLst>
          </p:cNvPr>
          <p:cNvSpPr txBox="1">
            <a:spLocks/>
          </p:cNvSpPr>
          <p:nvPr/>
        </p:nvSpPr>
        <p:spPr>
          <a:xfrm>
            <a:off x="838200" y="186706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IN TWO DOMAINS</a:t>
            </a:r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BEC0-EE52-131A-6165-FFC2141DFB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Gravitational-Wave Signals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faint waveform details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SNR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Complements matched filtering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Audio Denoising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environmental &amp; white noise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Keeps speech natural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better than standard linear filters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97968-31C0-38BE-2CE1-D10244D6F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84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F8FC5-B44F-F701-172E-A07A1509582F}"/>
              </a:ext>
            </a:extLst>
          </p:cNvPr>
          <p:cNvSpPr txBox="1">
            <a:spLocks/>
          </p:cNvSpPr>
          <p:nvPr/>
        </p:nvSpPr>
        <p:spPr>
          <a:xfrm>
            <a:off x="838200" y="86345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9B39C-70F2-0E69-79D3-D30E9131AFD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implementation (GPU/FPGA)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Multi-channel/spatial filtering (beamforming)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models for heavy-tailed noise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hybrid methods (CNN/RNN/Transformer + H-function)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to new fields: biomedical signals, seismic data, radar/sonar, vibrations</a:t>
            </a:r>
          </a:p>
          <a:p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6D57F-F4DB-80FA-B412-AF211DD3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814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2A45-211D-D006-9175-73A47EB2AC2D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80011-E963-A516-35D4-03905FFC00ED}"/>
              </a:ext>
            </a:extLst>
          </p:cNvPr>
          <p:cNvSpPr txBox="1">
            <a:spLocks/>
          </p:cNvSpPr>
          <p:nvPr/>
        </p:nvSpPr>
        <p:spPr>
          <a:xfrm>
            <a:off x="838200" y="1513391"/>
            <a:ext cx="10515600" cy="435133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Yan et al., </a:t>
            </a:r>
            <a:r>
              <a:rPr lang="en-IN" sz="2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DeepGRAV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2024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Fayad,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GW Anomaly Detection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MIT, 2024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Ormiston et al.,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 via Deep Learning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2020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Bacon et al.,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 BBH Signals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2022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LIGO Open Science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Mallat,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Wavelet Tour of Signal Processing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2008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Oppenheim &amp; Schafer,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 Signal Processing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2009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Welch,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Spectral Estimation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1967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Fox, </a:t>
            </a:r>
            <a:r>
              <a:rPr lang="en-IN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H-Function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1961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41713-524D-FC7D-4D94-902FBE4D7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96306"/>
            <a:ext cx="2886478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30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341D88-11AF-F765-0E5C-9D4EDDAF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922" y="7385155"/>
            <a:ext cx="2886478" cy="752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3AAAA5-3892-EFD9-690A-F303F86AE34D}"/>
              </a:ext>
            </a:extLst>
          </p:cNvPr>
          <p:cNvSpPr txBox="1"/>
          <p:nvPr/>
        </p:nvSpPr>
        <p:spPr>
          <a:xfrm>
            <a:off x="3657600" y="3930134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 dirty="0">
                <a:solidFill>
                  <a:srgbClr val="FF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03652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1925</Words>
  <Application>Microsoft Office PowerPoint</Application>
  <PresentationFormat>Custom</PresentationFormat>
  <Paragraphs>386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Nandana P P</dc:creator>
  <cp:lastModifiedBy>Nandana P P</cp:lastModifiedBy>
  <cp:revision>6</cp:revision>
  <dcterms:created xsi:type="dcterms:W3CDTF">2025-12-05T15:35:38Z</dcterms:created>
  <dcterms:modified xsi:type="dcterms:W3CDTF">2025-12-05T18:43:23Z</dcterms:modified>
</cp:coreProperties>
</file>